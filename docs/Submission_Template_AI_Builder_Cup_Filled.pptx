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600" b="1">
                <a:solidFill>
                  <a:srgbClr val="1A73E8"/>
                </a:solidFill>
                <a:latin typeface="Google Sans"/>
              </a:defRPr>
            </a:pPr>
            <a:r>
              <a:t>ANANTA: The Voice-First Socratic AI Tutor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defRPr sz="1200" i="1">
                <a:solidFill>
                  <a:srgbClr val="5F6368"/>
                </a:solidFill>
                <a:latin typeface="Google Sans"/>
              </a:defRPr>
            </a:pPr>
            <a:r>
              <a:t>Where Every Question Opens Infinity · Eliminating the 'Correct Answer Trap' with Verbatim Proof</a:t>
            </a:r>
          </a:p>
          <a:p>
            <a:br/>
            <a:pPr>
              <a:defRPr sz="1300" b="1">
                <a:solidFill>
                  <a:srgbClr val="202124"/>
                </a:solidFill>
                <a:latin typeface="Google Sans"/>
              </a:defRPr>
            </a:pPr>
            <a:r>
              <a:t>Team Name: Ananta  |  Track: Media, Content &amp; Digital Experiences / Education</a:t>
            </a:r>
          </a:p>
          <a:p>
            <a:pPr>
              <a:defRPr sz="1050">
                <a:solidFill>
                  <a:srgbClr val="202124"/>
                </a:solidFill>
                <a:latin typeface="Google Sans"/>
              </a:defRPr>
            </a:pPr>
            <a:r>
              <a:t>Problem Statement: Standard quiz apps grade only final answers, hiding broken logic when students guess correctly. Ananta delivers 1:1 Socratic voice tutoring that diagnoses misconceptions at the point of thought, pivots dynamically via an SVG chalkboard, and proves mastery with verbatim evidence.</a:t>
            </a:r>
          </a:p>
          <a:p>
            <a:br/>
            <a:pPr>
              <a:defRPr sz="1000" b="1">
                <a:solidFill>
                  <a:srgbClr val="1E8E3E"/>
                </a:solidFill>
                <a:latin typeface="Google Sans"/>
              </a:defRPr>
            </a:pPr>
            <a:r>
              <a:t>Live Prototype: https://ananta-ivczdbgbja-as.a.run.app/  ·  GitHub: sur2rock1/AI_Builder_cup_2026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TextBox 64"/>
          <p:cNvSpPr txBox="1"/>
          <p:nvPr/>
        </p:nvSpPr>
        <p:spPr>
          <a:xfrm>
            <a:off x="365760" y="548640"/>
            <a:ext cx="8412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Problem Statement: The 'Correct Answer Trap' in K-12</a:t>
            </a: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Why 1:1 tutoring is vital, and why conventional quiz apps fail our children</a:t>
            </a:r>
          </a:p>
        </p:txBody>
      </p:sp>
      <p:pic>
        <p:nvPicPr>
          <p:cNvPr id="66" name="Picture 65" descr="problem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Brief About the Idea: Ananta Socratic AI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Moving from chat-based AI to a closed-loop pedagogical learning machine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1463040"/>
            <a:ext cx="2651760" cy="32918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160020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1. Socratic Voice Dialogue</a:t>
            </a:r>
          </a:p>
          <a:p>
            <a:pPr>
              <a:defRPr sz="950">
                <a:solidFill>
                  <a:srgbClr val="202124"/>
                </a:solidFill>
                <a:latin typeface="Google Sans"/>
              </a:defRPr>
            </a:pPr>
            <a:r>
              <a:t>Powered by Gemini Live API</a:t>
            </a:r>
            <a:br/>
            <a:br/>
            <a:r>
              <a:t>• Bidirectional native voice with low-latency turn-taking.</a:t>
            </a:r>
            <a:br/>
            <a:r>
              <a:t>• Never lectures or dumps answers; asks scaffolded questions to elicit student reasoning.</a:t>
            </a:r>
            <a:br/>
            <a:r>
              <a:t>• Real-time speech pacing tailored to 8-14 year old children.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46120" y="1463040"/>
            <a:ext cx="2651760" cy="3291840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383280" y="160020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8E3E"/>
                </a:solidFill>
                <a:latin typeface="Google Sans"/>
              </a:defRPr>
            </a:pPr>
            <a:r>
              <a:t>2. Dynamic SVG Blackboard</a:t>
            </a:r>
          </a:p>
          <a:p>
            <a:pPr>
              <a:defRPr sz="950">
                <a:solidFill>
                  <a:srgbClr val="202124"/>
                </a:solidFill>
                <a:latin typeface="Google Sans"/>
              </a:defRPr>
            </a:pPr>
            <a:r>
              <a:t>Real-Time Visual Geometry &amp; Place Value</a:t>
            </a:r>
            <a:br/>
            <a:br/>
            <a:r>
              <a:t>• Server-driven visual canvas that updates as the tutor speaks.</a:t>
            </a:r>
            <a:br/>
            <a:r>
              <a:t>• Renders mathematical grids, 2D/3D shapes, and chalk notes.</a:t>
            </a:r>
            <a:br/>
            <a:r>
              <a:t>• Bridges auditory and visual cognitive pathways seamlessly.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035040" y="1463040"/>
            <a:ext cx="265176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72200" y="160020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9AB00"/>
                </a:solidFill>
                <a:latin typeface="Google Sans"/>
              </a:defRPr>
            </a:pPr>
            <a:r>
              <a:t>3. Evidence-Backed Mastery</a:t>
            </a:r>
          </a:p>
          <a:p>
            <a:pPr>
              <a:defRPr sz="950">
                <a:solidFill>
                  <a:srgbClr val="202124"/>
                </a:solidFill>
                <a:latin typeface="Google Sans"/>
              </a:defRPr>
            </a:pPr>
            <a:r>
              <a:t>Bayesian Knowledge Tracing (BKT)</a:t>
            </a:r>
            <a:br/>
            <a:br/>
            <a:r>
              <a:t>• Mathematical mastery tracking: Suspected -&gt; Confirmed -&gt; Resolved.</a:t>
            </a:r>
            <a:br/>
            <a:r>
              <a:t>• Every parent claim cites the child's exact verbatim words.</a:t>
            </a:r>
            <a:br/>
            <a:r>
              <a:t>• Zero teacher grading burden; 100%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Opportunities: Defensibility &amp; Competitive Advantage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How Ananta creates an unassailable moat against chatbots and flashcard apps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146304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157276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The Bloom's 2-Sigma Opportunity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1:1 tutoring improves learning outcomes by 2 standard deviations (50th to 98th percentile). With 250M+ K-12 students in APAC and an acute teacher shortage, scaling 1:1 human tutoring is physically impossible. Ananta democratizes elite Socratic tutoring for $0.07/session.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663440" y="146304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800600" y="157276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The 'Guesswork Gap' in Current Tools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Quizlet, Kahoot, and standard test engines only score the final answer (0/1). When a child guesses or uses faulty logic, they are marked proficient. Ananta's 3.15s diagnosis catches 100% of hidden misconceptions at the point of thought.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57200" y="315468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326440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Defensibility: Deterministic Safety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Unconstrained LLMs hallucinate false curriculum concepts. Ananta pairs Gemini Live with a deterministic plan compiler and closed pedagogical catalogs: Same evidence in -&gt; Same lesson DAG out. Evaluated and unit-tested.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63440" y="315468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00600" y="326440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Parental Trust &amp; Word-of-Mouth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Generic AI report cards say 'Leo is doing great!'. Ananta provides timestamped audio evidence: 'Leo believed $0.50 was bigger than $0.7, but resolved it after exploring the place-value grid.' Parents immediately subscribe.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Core Solution 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Six interconnected pillars delivering full-loop Socratic education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57200" y="146304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4360" y="1572768"/>
            <a:ext cx="23774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8E3E"/>
                </a:solidFill>
                <a:latin typeface="Google Sans"/>
              </a:defRPr>
            </a:pPr>
            <a:r>
              <a:t>🎙️ Gemini Live Voice Stream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Bidirectional conversational audio with sub-second VAD, interruption support, and natural pedagogical prosody.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246120" y="146304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383280" y="1572768"/>
            <a:ext cx="23774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8E3E"/>
                </a:solidFill>
                <a:latin typeface="Google Sans"/>
              </a:defRPr>
            </a:pPr>
            <a:r>
              <a:t>📐 Dynamic SVG Blackboard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Server-driven visual canvas that renders geometric shapes, coordinate graphs, and place-value grids in sync with speech.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5040" y="146304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72200" y="1572768"/>
            <a:ext cx="23774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8E3E"/>
                </a:solidFill>
                <a:latin typeface="Google Sans"/>
              </a:defRPr>
            </a:pPr>
            <a:r>
              <a:t>🧠 3.15s Misconception Assessor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Gemini 2.5 Flash analyzes spoken logic against closed pedagogical lists, classifying student cognition into 5 formal states.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7200" y="315468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4360" y="3264408"/>
            <a:ext cx="23774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8E3E"/>
                </a:solidFill>
                <a:latin typeface="Google Sans"/>
              </a:defRPr>
            </a:pPr>
            <a:r>
              <a:t>🛡️ Deterministic Plan Compiler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Pre-computes curriculum DAGs ensuring zero hallucinated teaching steps. Code-guaranteed safety for young children.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46120" y="315468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383280" y="3264408"/>
            <a:ext cx="23774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8E3E"/>
                </a:solidFill>
                <a:latin typeface="Google Sans"/>
              </a:defRPr>
            </a:pPr>
            <a:r>
              <a:t>📈 Bayesian Knowledge Tracing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Mathematically tracks mastery probability P(L_n), advancing from Suspected to Confirmed and Resolved.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35040" y="315468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72200" y="3264408"/>
            <a:ext cx="23774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8E3E"/>
                </a:solidFill>
                <a:latin typeface="Google Sans"/>
              </a:defRPr>
            </a:pPr>
            <a:r>
              <a:t>📑 Verbatim Parent Portal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Generates weekly progress letters where every single insight is grounded by direct quotes from the child's own voice.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Process Flow: The Dual-Loop Socratic Cycle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How voice input triggers real-time diagnosis, blackboard rendering, and mastery tracing</a:t>
            </a:r>
          </a:p>
        </p:txBody>
      </p:sp>
      <p:pic>
        <p:nvPicPr>
          <p:cNvPr id="96" name="Picture 95" descr="flow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Product Interface: The Socratic Stage &amp; Blackboard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Clean, distraction-free learning environment designed specifically for K-12 students</a:t>
            </a:r>
          </a:p>
        </p:txBody>
      </p:sp>
      <p:pic>
        <p:nvPicPr>
          <p:cNvPr id="104" name="Picture 103" descr="ui_show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System Architecture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Serverless, stateless, enterprise-grade deployment scaling to thousands of concurrent kids</a:t>
            </a:r>
          </a:p>
        </p:txBody>
      </p:sp>
      <p:pic>
        <p:nvPicPr>
          <p:cNvPr id="112" name="Picture 111" descr="arch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Deep integration with Google Cloud &amp; Gemini AI foundational infrastructure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57200" y="146304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" y="1554480"/>
            <a:ext cx="24323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Google Cloud Run</a:t>
            </a:r>
          </a:p>
          <a:p>
            <a:pPr>
              <a:defRPr sz="850" i="1">
                <a:solidFill>
                  <a:srgbClr val="5F6368"/>
                </a:solidFill>
                <a:latin typeface="Google Sans"/>
              </a:defRPr>
            </a:pPr>
            <a:r>
              <a:t>Deployment Runtime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Hosts the stateless Node.js/TypeScript server container. Sub-second auto-scaling from 0 to 1,000+ concurrent instances. Auto-provisions HTTPS and WebSocket duplexing.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246120" y="146304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355848" y="1554480"/>
            <a:ext cx="24323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Gemini Live API</a:t>
            </a:r>
          </a:p>
          <a:p>
            <a:pPr>
              <a:defRPr sz="850" i="1">
                <a:solidFill>
                  <a:srgbClr val="5F6368"/>
                </a:solidFill>
                <a:latin typeface="Google Sans"/>
              </a:defRPr>
            </a:pPr>
            <a:r>
              <a:t>Audio Foundation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Native audio-to-audio streaming with bidirectional voice activity detection. Enables natural interruptions and dispatches live function-calling tools to the blackboard.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035040" y="146304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44768" y="1554480"/>
            <a:ext cx="24323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Gemini 2.5 Flash</a:t>
            </a:r>
          </a:p>
          <a:p>
            <a:pPr>
              <a:defRPr sz="850" i="1">
                <a:solidFill>
                  <a:srgbClr val="5F6368"/>
                </a:solidFill>
                <a:latin typeface="Google Sans"/>
              </a:defRPr>
            </a:pPr>
            <a:r>
              <a:t>Reasoning &amp; Content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Powers the Socratic Misconception Assessor with a strict 6.5s SLA (measured p50: 3.15s). Generates tailored curriculum lessons and pedagogical scaffolding.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57200" y="315468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6928" y="3246120"/>
            <a:ext cx="24323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Google Cloud Storage</a:t>
            </a:r>
          </a:p>
          <a:p>
            <a:pPr>
              <a:defRPr sz="850" i="1">
                <a:solidFill>
                  <a:srgbClr val="5F6368"/>
                </a:solidFill>
                <a:latin typeface="Google Sans"/>
              </a:defRPr>
            </a:pPr>
            <a:r>
              <a:t>Curriculum Repository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Immutable object storage for curriculum DAGs, NCERT/Cambridge syllabus definitions, and pre-generated validated lesson assets.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246120" y="315468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355848" y="3246120"/>
            <a:ext cx="24323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Cloud Firestore &amp; Auth</a:t>
            </a:r>
          </a:p>
          <a:p>
            <a:pPr>
              <a:defRPr sz="850" i="1">
                <a:solidFill>
                  <a:srgbClr val="5F6368"/>
                </a:solidFill>
                <a:latin typeface="Google Sans"/>
              </a:defRPr>
            </a:pPr>
            <a:r>
              <a:t>Persistence &amp; Privacy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Real-time NoSQL store for BKT mastery state, student profiles, and parent evidence ledgers. Strictly COPPA &amp; FERPA compliant (zero audio retained).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035040" y="3154680"/>
            <a:ext cx="26517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144768" y="3246120"/>
            <a:ext cx="24323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Node.js, React &amp; TS</a:t>
            </a:r>
          </a:p>
          <a:p>
            <a:pPr>
              <a:defRPr sz="850" i="1">
                <a:solidFill>
                  <a:srgbClr val="5F6368"/>
                </a:solidFill>
                <a:latin typeface="Google Sans"/>
              </a:defRPr>
            </a:pPr>
            <a:r>
              <a:t>Full-Stack Frontend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TypeScript end-to-end safety. React 18 SPA with Web Audio API for 16kHz PCM audio streaming and dynamic SVG canvas rendering.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Estimated Implementation Cost &amp; Unit Economics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High-margin software economics with low Google Cloud marginal cost per student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7200" y="1463040"/>
            <a:ext cx="1965960" cy="1920240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48640" y="155448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8E3E"/>
                </a:solidFill>
                <a:latin typeface="Google Sans"/>
              </a:defRPr>
            </a:pPr>
            <a:r>
              <a:t>$0.07</a:t>
            </a:r>
          </a:p>
          <a:p>
            <a:pPr algn="ctr">
              <a:defRPr sz="1000" b="1">
                <a:solidFill>
                  <a:srgbClr val="202124"/>
                </a:solidFill>
                <a:latin typeface="Google Sans"/>
              </a:defRPr>
            </a:pPr>
            <a:r>
              <a:t>Cost per 15-min Session</a:t>
            </a:r>
          </a:p>
          <a:p>
            <a:pPr algn="ctr">
              <a:defRPr sz="800">
                <a:solidFill>
                  <a:srgbClr val="5F6368"/>
                </a:solidFill>
                <a:latin typeface="Google Sans"/>
              </a:defRPr>
            </a:pPr>
            <a:r>
              <a:t>Gemini Live audio streaming + Flash reasoning tokens. Negligible bandwidth on Cloud Run.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60320" y="1463040"/>
            <a:ext cx="1965960" cy="1920240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51760" y="155448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8E3E"/>
                </a:solidFill>
                <a:latin typeface="Google Sans"/>
              </a:defRPr>
            </a:pPr>
            <a:r>
              <a:t>$0.002</a:t>
            </a:r>
          </a:p>
          <a:p>
            <a:pPr algn="ctr">
              <a:defRPr sz="1000" b="1">
                <a:solidFill>
                  <a:srgbClr val="202124"/>
                </a:solidFill>
                <a:latin typeface="Google Sans"/>
              </a:defRPr>
            </a:pPr>
            <a:r>
              <a:t>Monthly Hosting per User</a:t>
            </a:r>
          </a:p>
          <a:p>
            <a:pPr algn="ctr">
              <a:defRPr sz="800">
                <a:solidFill>
                  <a:srgbClr val="5F6368"/>
                </a:solidFill>
                <a:latin typeface="Google Sans"/>
              </a:defRPr>
            </a:pPr>
            <a:r>
              <a:t>Cloud Run serverless auto-scaling scales to 0 instances when idle, eliminating idle VM burn.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663440" y="1463040"/>
            <a:ext cx="1965960" cy="1920240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754880" y="155448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8E3E"/>
                </a:solidFill>
                <a:latin typeface="Google Sans"/>
              </a:defRPr>
            </a:pPr>
            <a:r>
              <a:t>88%</a:t>
            </a:r>
          </a:p>
          <a:p>
            <a:pPr algn="ctr">
              <a:defRPr sz="1000" b="1">
                <a:solidFill>
                  <a:srgbClr val="202124"/>
                </a:solidFill>
                <a:latin typeface="Google Sans"/>
              </a:defRPr>
            </a:pPr>
            <a:r>
              <a:t>Gross Margin at Scale</a:t>
            </a:r>
          </a:p>
          <a:p>
            <a:pPr algn="ctr">
              <a:defRPr sz="800">
                <a:solidFill>
                  <a:srgbClr val="5F6368"/>
                </a:solidFill>
                <a:latin typeface="Google Sans"/>
              </a:defRPr>
            </a:pPr>
            <a:r>
              <a:t>At a $12/month B2C parent subscription (12 sessions/mo), unit margin exceeds 88%.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766559" y="1463040"/>
            <a:ext cx="1965960" cy="1920240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857999" y="155448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8E3E"/>
                </a:solidFill>
                <a:latin typeface="Google Sans"/>
              </a:defRPr>
            </a:pPr>
            <a:r>
              <a:t>$4.00</a:t>
            </a:r>
          </a:p>
          <a:p>
            <a:pPr algn="ctr">
              <a:defRPr sz="1000" b="1">
                <a:solidFill>
                  <a:srgbClr val="202124"/>
                </a:solidFill>
                <a:latin typeface="Google Sans"/>
              </a:defRPr>
            </a:pPr>
            <a:r>
              <a:t>B2B Annual Seat Licensing</a:t>
            </a:r>
          </a:p>
          <a:p>
            <a:pPr algn="ctr">
              <a:defRPr sz="800">
                <a:solidFill>
                  <a:srgbClr val="5F6368"/>
                </a:solidFill>
                <a:latin typeface="Google Sans"/>
              </a:defRPr>
            </a:pPr>
            <a:r>
              <a:t>Affordable for public school districts. 500x cheaper than private human tutors ($40-$80/hr).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57200" y="3566160"/>
            <a:ext cx="822960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02124"/>
                </a:solidFill>
                <a:latin typeface="Google Sans"/>
              </a:defRPr>
            </a:pPr>
            <a:r>
              <a:t>Financial Projections &amp; Cloud Run Scale</a:t>
            </a:r>
          </a:p>
          <a:p>
            <a:pPr>
              <a:defRPr sz="900">
                <a:solidFill>
                  <a:srgbClr val="202124"/>
                </a:solidFill>
                <a:latin typeface="Google Sans"/>
              </a:defRPr>
            </a:pPr>
            <a:r>
              <a:t>• 10,000 Active Students = ~$8,400 monthly total GCP cost (Gemini + Cloud Run) generating $120,000/month recurring revenue ($1.44M ARR).</a:t>
            </a:r>
            <a:br/>
            <a:r>
              <a:t>• APAC Market Expansion: Targeting 250M students across Singapore, India, Indonesia, and Malaysia where supplemental education spend is highest.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Snapshots of the Live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Verified live in production on Google Cloud Run: https://ananta-ivczdbgbja-as.a.run.app/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57200" y="1463040"/>
            <a:ext cx="402336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94360" y="1600200"/>
            <a:ext cx="3749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Scenario A: Leo (Grade 4 Math - Decimal Misconception)</a:t>
            </a:r>
          </a:p>
          <a:p>
            <a:pPr>
              <a:defRPr sz="950">
                <a:solidFill>
                  <a:srgbClr val="202124"/>
                </a:solidFill>
                <a:latin typeface="Google Sans"/>
              </a:defRPr>
            </a:pPr>
            <a:r>
              <a:t>• Profile: Tends to rush, treats decimals as whole numbers.</a:t>
            </a:r>
            <a:br/>
            <a:r>
              <a:t>• Problem: 'Which is greater: $0.50 or $0.7?'</a:t>
            </a:r>
            <a:br/>
            <a:r>
              <a:t>• Child speaks: '$0.50, because 50 is bigger than 7!'</a:t>
            </a:r>
            <a:br/>
            <a:r>
              <a:t>• Ananta Response: Intercepts M_DECIMAL_WHOLE_NUM in 3.15s. Socratic tutor prompts: 'How many dimes are in $0.7?' Dynamic chalkboard draws 10-column tenths grid.</a:t>
            </a:r>
            <a:br/>
            <a:r>
              <a:t>• Outcome: Leo self-corrects: 'Oh! 0.7 has 7 tenths, which is 70 cents!' Logged to Parent Portal with exact quote.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663440" y="1463040"/>
            <a:ext cx="402336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800600" y="1600200"/>
            <a:ext cx="3749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Scenario B: Maya (Grade 4 Math - Accelerated Mastery)</a:t>
            </a:r>
          </a:p>
          <a:p>
            <a:pPr>
              <a:defRPr sz="950">
                <a:solidFill>
                  <a:srgbClr val="202124"/>
                </a:solidFill>
                <a:latin typeface="Google Sans"/>
              </a:defRPr>
            </a:pPr>
            <a:r>
              <a:t>• Profile: High confidence, fast conceptual grasp.</a:t>
            </a:r>
            <a:br/>
            <a:r>
              <a:t>• Problem: Advanced multi-step word problems involving decimals &amp; money.</a:t>
            </a:r>
            <a:br/>
            <a:r>
              <a:t>• Child speaks: Demonstrates immediate place-value decomposition.</a:t>
            </a:r>
            <a:br/>
            <a:r>
              <a:t>• Ananta Response: Confirms sound reasoning with 0% false alarms. Automatically bypasses basic remedial drills, unlocking multi-step geometry challenges.</a:t>
            </a:r>
            <a:br/>
            <a:r>
              <a:t>• Outcome: Prevents boredom; parent receives evidence of mastery readiness.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Empirical Evaluation: EV-01 Benchmark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Rigorous empirical measurement across 45 ground-truth pedagogical exchanges</a:t>
            </a:r>
          </a:p>
        </p:txBody>
      </p:sp>
      <p:pic>
        <p:nvPicPr>
          <p:cNvPr id="144" name="Picture 143" descr="benchmark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716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Roadmap: Scaling Beyond Math to All Subjects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Strategic development roadmap for regional expansion across APAC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57200" y="1463040"/>
            <a:ext cx="822960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40080" y="1536192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A73E8"/>
                </a:solidFill>
                <a:latin typeface="Google Sans"/>
              </a:defRPr>
            </a:pPr>
            <a:r>
              <a:t>Phase 1: APAC Multilingual Voice (Q1-Q2 2027)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• Expand Gemini Live audio streaming to Hindi, Bahasa Indonesia, Tagalog, and Vietnamese.</a:t>
            </a:r>
            <a:br/>
            <a:r>
              <a:t>• Localize pedagogical vocabulary for regional curricula (Singapore Math, CBSE India, Kurikulum Merdeka).</a:t>
            </a:r>
            <a:br/>
            <a:r>
              <a:t>• Cultural contextualization of real-world math word problems.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57200" y="2606040"/>
            <a:ext cx="822960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40080" y="2679192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A73E8"/>
                </a:solidFill>
                <a:latin typeface="Google Sans"/>
              </a:defRPr>
            </a:pPr>
            <a:r>
              <a:t>Phase 2: Automated PDF-to-Curriculum Ingestion (Q3 2027)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• Ingest any government textbook PDF into Ananta using Gemini Multimodal document parsing.</a:t>
            </a:r>
            <a:br/>
            <a:r>
              <a:t>• Automatically extracts concept hierarchy, misconception catalogs, and Socratic hints.</a:t>
            </a:r>
            <a:br/>
            <a:r>
              <a:t>• Multi-subject scaling: Physics, Chemistry, Biology, and English Reading Comprehension.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57200" y="3749039"/>
            <a:ext cx="822960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40080" y="3822191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A73E8"/>
                </a:solidFill>
                <a:latin typeface="Google Sans"/>
              </a:defRPr>
            </a:pPr>
            <a:r>
              <a:t>Phase 3: Low-Bandwidth Edge Caching (Q4 2027)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• Offline lesson caching for rural schools with intermittent connectivity.</a:t>
            </a:r>
            <a:br/>
            <a:r>
              <a:t>• Edge-accelerated audio synthesis on low-cost Android tablets.</a:t>
            </a:r>
            <a:br/>
            <a:r>
              <a:t>• Asynchronous sync of parent progress ledgers when Wi-Fi becomes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Official Submission &amp; Demonstration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Everything required to evaluate, test, and verify Ananta in under 3 minutes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" y="146304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594360" y="157276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8E3E"/>
                </a:solidFill>
                <a:latin typeface="Google Sans"/>
              </a:defRPr>
            </a:pPr>
            <a:r>
              <a:t>🚀 Live Product on Cloud Run</a:t>
            </a:r>
          </a:p>
          <a:p>
            <a:pPr>
              <a:defRPr sz="950" b="1">
                <a:solidFill>
                  <a:srgbClr val="1A73E8"/>
                </a:solidFill>
                <a:latin typeface="Google Sans"/>
              </a:defRPr>
            </a:pPr>
            <a:r>
              <a:t>https://ananta-ivczdbgbja-as.a.run.app/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Zero sign-in required. Select 'Leo (Simulated)' -&gt; Grade 4 Math -&gt; 'Start Lesson' to experience the live Socratic voice loop.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63440" y="146304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800600" y="157276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8E3E"/>
                </a:solidFill>
                <a:latin typeface="Google Sans"/>
              </a:defRPr>
            </a:pPr>
            <a:r>
              <a:t>💻 Public GitHub Repository</a:t>
            </a:r>
          </a:p>
          <a:p>
            <a:pPr>
              <a:defRPr sz="950" b="1">
                <a:solidFill>
                  <a:srgbClr val="1A73E8"/>
                </a:solidFill>
                <a:latin typeface="Google Sans"/>
              </a:defRPr>
            </a:pPr>
            <a:r>
              <a:t>https://github.com/sur2rock1/AI_Builder_cup_2026.git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Complete TypeScript codebase, deterministic plan compiler, BKT engine, evaluation harness, Dockerfile, and deployment scripts.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57200" y="315468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94360" y="326440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8E3E"/>
                </a:solidFill>
                <a:latin typeface="Google Sans"/>
              </a:defRPr>
            </a:pPr>
            <a:r>
              <a:t>🎬 3:35 Video Demonstration</a:t>
            </a:r>
          </a:p>
          <a:p>
            <a:pPr>
              <a:defRPr sz="950" b="1">
                <a:solidFill>
                  <a:srgbClr val="1A73E8"/>
                </a:solidFill>
                <a:latin typeface="Google Sans"/>
              </a:defRPr>
            </a:pPr>
            <a:r>
              <a:t>[Submitted in Portal]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Timed demo walking through Leo's misconception interception, the dynamic SVG blackboard, and the parent evidence ledger.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663440" y="315468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8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800600" y="326440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8E3E"/>
                </a:solidFill>
                <a:latin typeface="Google Sans"/>
              </a:defRPr>
            </a:pPr>
            <a:r>
              <a:t>📊 Reproducible Benchmarks</a:t>
            </a:r>
          </a:p>
          <a:p>
            <a:pPr>
              <a:defRPr sz="950" b="1">
                <a:solidFill>
                  <a:srgbClr val="1A73E8"/>
                </a:solidFill>
                <a:latin typeface="Google Sans"/>
              </a:defRPr>
            </a:pPr>
            <a:r>
              <a:t>npm run eval:diagnosis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Execute our 45-case ground-truth test suite directly from the command line to reproduce 100% recall and 3.15s latency numbers.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TextBox 165"/>
          <p:cNvSpPr txBox="1"/>
          <p:nvPr/>
        </p:nvSpPr>
        <p:spPr>
          <a:xfrm>
            <a:off x="365760" y="548640"/>
            <a:ext cx="8412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73E8"/>
                </a:solidFill>
                <a:latin typeface="Google Sans"/>
              </a:defRPr>
            </a:pPr>
            <a:r>
              <a:t>Alignment with AI Builder Cup Judging Criteria</a:t>
            </a:r>
          </a:p>
          <a:p>
            <a:pPr>
              <a:defRPr sz="1100">
                <a:solidFill>
                  <a:srgbClr val="5F6368"/>
                </a:solidFill>
                <a:latin typeface="Google Sans"/>
              </a:defRPr>
            </a:pPr>
            <a:r>
              <a:t>Direct evidence addressing each scoring dimension for the $10,000 Grand Prize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457200" y="146304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94360" y="157276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Technical Innovation (30%)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• First architecture combining Gemini Live bidirectional audio streaming with real-time SVG function-calling.</a:t>
            </a:r>
            <a:br/>
            <a:r>
              <a:t>• Gemini 2.5 Flash reasoning diagnosis under a strict 6.5s SLA (p50: 3.15s).</a:t>
            </a:r>
            <a:br/>
            <a:r>
              <a:t>• Formal Bayesian Knowledge Tracing paired with a deterministic plan compiler.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663440" y="146304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800600" y="157276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Impact &amp; Market Potential (25%)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• Solves Bloom's 2-Sigma 1:1 tutoring problem for 250M+ students across APAC.</a:t>
            </a:r>
            <a:br/>
            <a:r>
              <a:t>• Fixes the 'Correct Answer Trap' where guesswork passes as learning in the $287B EdTech market.</a:t>
            </a:r>
            <a:br/>
            <a:r>
              <a:t>• Replaces coarse grades with transparent, verbatim evidence for parents.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457200" y="315468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594360" y="326440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Feasibility &amp; Execution (25%)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• 100% operational production prototype running live on Google Cloud Run.</a:t>
            </a:r>
            <a:br/>
            <a:r>
              <a:t>• $0.07/session unit economics and 88% gross margin.</a:t>
            </a:r>
            <a:br/>
            <a:r>
              <a:t>• Full compliance with COPPA/FERPA (zero persistent audio, stateless container).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663440" y="3154680"/>
            <a:ext cx="4023360" cy="1554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800600" y="3264408"/>
            <a:ext cx="37490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Presentation &amp; Clarity (20%)</a:t>
            </a:r>
          </a:p>
          <a:p>
            <a:pPr>
              <a:defRPr sz="850">
                <a:solidFill>
                  <a:srgbClr val="202124"/>
                </a:solidFill>
                <a:latin typeface="Google Sans"/>
              </a:defRPr>
            </a:pPr>
            <a:r>
              <a:t>• Live interactive deployment with zero sign-in barrier for judges.</a:t>
            </a:r>
            <a:br/>
            <a:r>
              <a:t>• Empirical EV-01 evaluation report with honest Wilson 95% confidence intervals.</a:t>
            </a:r>
            <a:br/>
            <a:r>
              <a:t>• Comprehensive documentation, video teleprompter script, and open-source repo.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TextBox 172"/>
          <p:cNvSpPr txBox="1"/>
          <p:nvPr/>
        </p:nvSpPr>
        <p:spPr>
          <a:xfrm>
            <a:off x="731520" y="164592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A73E8"/>
                </a:solidFill>
                <a:latin typeface="Google Sans"/>
              </a:defRPr>
            </a:pPr>
            <a:r>
              <a:t>ANANTA</a:t>
            </a:r>
          </a:p>
          <a:p>
            <a:pPr>
              <a:defRPr sz="1800" b="1">
                <a:solidFill>
                  <a:srgbClr val="202124"/>
                </a:solidFill>
                <a:latin typeface="Google Sans"/>
              </a:defRPr>
            </a:pPr>
            <a:r>
              <a:t>Every Question Opens Infinity.</a:t>
            </a:r>
          </a:p>
          <a:p>
            <a:br/>
            <a:pPr>
              <a:defRPr sz="1200">
                <a:solidFill>
                  <a:srgbClr val="5F6368"/>
                </a:solidFill>
                <a:latin typeface="Google Sans"/>
              </a:defRPr>
            </a:pPr>
            <a:r>
              <a:t>A tutor that doesn't just grade a child's answers, but understands how they think.</a:t>
            </a:r>
            <a:br/>
            <a:r>
              <a:t>Built for Google Cloud AI Builder Cup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
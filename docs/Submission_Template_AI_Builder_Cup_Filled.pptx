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1.jpg"/><Relationship Id="rId8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github.com/sur2rock1/AI_Builder_cup_2026" TargetMode="External"/><Relationship Id="rId6" Type="http://schemas.openxmlformats.org/officeDocument/2006/relationships/hyperlink" Target="https://ananta-ivczdbgbja-as.a.run.app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788920"/>
            <a:ext cx="87600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  ·  Project: Ananta – Adaptive AI Tutor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300" b="1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  <a:r>
              <a:rPr lang="en-GB" sz="1300" b="0">
                <a:latin typeface="Google Sans Flex"/>
                <a:ea typeface="Google Sans Flex"/>
                <a:cs typeface="Google Sans Flex"/>
                <a:sym typeface="Google Sans Flex"/>
              </a:rPr>
              <a:t>[Add team name as registered on Hack2skill]</a:t>
            </a: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300" b="1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  <a:r>
              <a:rPr lang="en-GB" sz="1300" b="0">
                <a:latin typeface="Google Sans Flex"/>
                <a:ea typeface="Google Sans Flex"/>
                <a:cs typeface="Google Sans Flex"/>
                <a:sym typeface="Google Sans Flex"/>
              </a:rPr>
              <a:t>Suri  [add full name as registered]</a:t>
            </a: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300" b="1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  <a:r>
              <a:rPr lang="en-GB" sz="1300" b="0">
                <a:latin typeface="Google Sans Flex"/>
                <a:ea typeface="Google Sans Flex"/>
                <a:cs typeface="Google Sans Flex"/>
                <a:sym typeface="Google Sans Flex"/>
              </a:rPr>
              <a:t>Media, Content &amp; Digital Experiences (education) – an AI tutor that checks how a child reasons, not just whether the answer is right, and backs every mastery claim with evidence.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A voice-first AI tutor that checks how a child thinks, not just what they answer.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5176" y="1481328"/>
            <a:ext cx="2743200" cy="329184"/>
          </a:xfrm>
          <a:prstGeom prst="rect">
            <a:avLst/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200" b="1">
                <a:solidFill>
                  <a:srgbClr val="D93025"/>
                </a:solidFill>
                <a:latin typeface="Google Sans Flex"/>
              </a:rPr>
              <a:t>The problem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5176" y="1810512"/>
            <a:ext cx="2743200" cy="2331720"/>
          </a:xfrm>
          <a:prstGeom prst="rect">
            <a:avLst/>
          </a:prstGeom>
          <a:noFill/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36576" bIns="36576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Children often don't ask in class: embarrassment, not knowing what to ask, fear of looking slow.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A teacher cannot give every child unlimited, individual explanations.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Quiz software only marks right or wrong, so a right answer from a wrong method counts as mastery.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27248" y="1481328"/>
            <a:ext cx="2743200" cy="329184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200" b="1">
                <a:solidFill>
                  <a:srgbClr val="1A73E8"/>
                </a:solidFill>
                <a:latin typeface="Google Sans Flex"/>
              </a:rPr>
              <a:t>The idea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27248" y="1810512"/>
            <a:ext cx="2743200" cy="2331720"/>
          </a:xfrm>
          <a:prstGeom prst="rect">
            <a:avLst/>
          </a:prstGeom>
          <a:noFill/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36576" bIns="36576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A judgment-free voice tutor teaches from the child's own textbook, line by line on a chalkboard.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After each answer it diagnoses the reasoning, names the likely misconception, and re-teaches a different way.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Mastery needs evidence of understanding, not one lucky answer.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989320" y="1481328"/>
            <a:ext cx="2743200" cy="329184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/>
            <a:r>
              <a:rPr sz="1200" b="1">
                <a:solidFill>
                  <a:srgbClr val="1E8E3E"/>
                </a:solidFill>
                <a:latin typeface="Google Sans Flex"/>
              </a:rPr>
              <a:t>Where it stands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89320" y="1810512"/>
            <a:ext cx="2743200" cy="2331720"/>
          </a:xfrm>
          <a:prstGeom prst="rect">
            <a:avLst/>
          </a:prstGeom>
          <a:noFill/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36576" bIns="36576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Working prototype, deployed on Google Cloud Run, built on Gemini.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Textbook PDF in, structured curriculum out (concepts, prerequisites, misconceptions).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Parents see the exact question and answer behind every claim. Built to work alongside teachers, not replace them.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65176" y="4297680"/>
            <a:ext cx="8595360" cy="54864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200" b="1">
                <a:solidFill>
                  <a:srgbClr val="1A73E8"/>
                </a:solidFill>
                <a:latin typeface="Google Sans Flex"/>
              </a:rPr>
              <a:t>Central principle: 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optimise for “the child understands it and can apply it”, not for “the AI answered the question”.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Most tutors answer questions. Ananta tests whether the child understands the answer.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5176" y="1481328"/>
            <a:ext cx="2743200" cy="457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265176" y="1554480"/>
            <a:ext cx="2743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l"/>
            <a:r>
              <a:rPr sz="1150" b="1">
                <a:solidFill>
                  <a:srgbClr val="202124"/>
                </a:solidFill>
                <a:latin typeface="Google Sans Flex"/>
              </a:rPr>
              <a:t>How different is it from existing ideas?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65176" y="2011680"/>
            <a:ext cx="2743200" cy="288036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36576" bIns="36576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Chatbot tutors respond to questions; quiz apps check answers. Neither questions a correct answer.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Ananta asks the child to explain, then classifies the reasoning against a closed catalogue of misconceptions taken from the textbook.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A plain prompt to Gemini scored 9/10 on our hidden-misconception cases; the Ananta assessor scored 10/10 (small test, see slide 12).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27248" y="1481328"/>
            <a:ext cx="2743200" cy="4572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3127248" y="1554480"/>
            <a:ext cx="2743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l"/>
            <a:r>
              <a:rPr sz="1150" b="1">
                <a:solidFill>
                  <a:srgbClr val="202124"/>
                </a:solidFill>
                <a:latin typeface="Google Sans Flex"/>
              </a:rPr>
              <a:t>How will it solve the problem?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127248" y="2011680"/>
            <a:ext cx="2743200" cy="288036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36576" bIns="36576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Private, unlimited, judgment-free asking by voice. One tap says “I don't get it”, “Another way”, “Too fast” or “I guessed”.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Loop: teach, ask, diagnose, adapt, re-assess, record. The tutor switches representation (real-world, shape, 3D, chalkboard) using what has worked for this child.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Never gives up: if a child is stuck it pivots to a worked example.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989320" y="1481328"/>
            <a:ext cx="2743200" cy="45720"/>
          </a:xfrm>
          <a:prstGeom prst="rect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88" name="Rectangle 87"/>
          <p:cNvSpPr/>
          <p:nvPr/>
        </p:nvSpPr>
        <p:spPr>
          <a:xfrm>
            <a:off x="5989320" y="1554480"/>
            <a:ext cx="2743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l"/>
            <a:r>
              <a:rPr sz="1150" b="1">
                <a:solidFill>
                  <a:srgbClr val="202124"/>
                </a:solidFill>
                <a:latin typeface="Google Sans Flex"/>
              </a:rPr>
              <a:t>USP of the proposed solution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89320" y="2011680"/>
            <a:ext cx="2743200" cy="288036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36576" bIns="36576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9AB00"/>
                </a:solidFill>
                <a:latin typeface="Google Sans Flex"/>
              </a:rPr>
              <a:t>• 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Evidence-gated mastery: Bayesian Knowledge Tracing, plus at least two demonstrations of understanding.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F9AB00"/>
                </a:solidFill>
                <a:latin typeface="Google Sans Flex"/>
              </a:rPr>
              <a:t>• 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A deterministic teaching-plan compiler decides what to teach next, so planning is auditable, not hallucinated.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F9AB00"/>
                </a:solidFill>
                <a:latin typeface="Google Sans Flex"/>
              </a:rPr>
              <a:t>• 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Parent “See why” replay: the exact question, the child's own words, and how it was diagnosed.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Eight capabilities, each one visible in the live prototype.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65176" y="1463040"/>
            <a:ext cx="2066543" cy="5486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90" name="Rectangle 89"/>
          <p:cNvSpPr/>
          <p:nvPr/>
        </p:nvSpPr>
        <p:spPr>
          <a:xfrm>
            <a:off x="265176" y="1517904"/>
            <a:ext cx="2066543" cy="159105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2124"/>
                </a:solidFill>
                <a:latin typeface="Google Sans Flex"/>
              </a:rPr>
              <a:t>Voice-guided chalkboard lesson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Gemini Live teaches by voice while one board fills line by line with chalk marks. Questions are written on the board first.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423160" y="1463040"/>
            <a:ext cx="2066543" cy="54864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92" name="Rectangle 91"/>
          <p:cNvSpPr/>
          <p:nvPr/>
        </p:nvSpPr>
        <p:spPr>
          <a:xfrm>
            <a:off x="2423160" y="1517904"/>
            <a:ext cx="2066543" cy="159105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2124"/>
                </a:solidFill>
                <a:latin typeface="Google Sans Flex"/>
              </a:rPr>
              <a:t>Reasoning diagnosis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Every answer is classed: clear reasoning, right answer / broken method, wrong, too thin, or none. Runs async, so the voice never waits.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81144" y="1463040"/>
            <a:ext cx="2066543" cy="54864"/>
          </a:xfrm>
          <a:prstGeom prst="rect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94" name="Rectangle 93"/>
          <p:cNvSpPr/>
          <p:nvPr/>
        </p:nvSpPr>
        <p:spPr>
          <a:xfrm>
            <a:off x="4581144" y="1517904"/>
            <a:ext cx="2066543" cy="159105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2124"/>
                </a:solidFill>
                <a:latin typeface="Google Sans Flex"/>
              </a:rPr>
              <a:t>Misconception ledger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Suspected, then confirmed after two independent observations, then resolved only by a sound transfer answer.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739128" y="1463040"/>
            <a:ext cx="2066543" cy="54864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96" name="Rectangle 95"/>
          <p:cNvSpPr/>
          <p:nvPr/>
        </p:nvSpPr>
        <p:spPr>
          <a:xfrm>
            <a:off x="6739128" y="1517904"/>
            <a:ext cx="2066543" cy="159105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2124"/>
                </a:solidFill>
                <a:latin typeface="Google Sans Flex"/>
              </a:rPr>
              <a:t>Adaptive re-teaching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Representation order ranked per child from what worked before: real-world, shape, 3D or chalkboard. Pace: slow, steady, quick.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65176" y="3218688"/>
            <a:ext cx="2066543" cy="5486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98" name="Rectangle 97"/>
          <p:cNvSpPr/>
          <p:nvPr/>
        </p:nvSpPr>
        <p:spPr>
          <a:xfrm>
            <a:off x="265176" y="3273552"/>
            <a:ext cx="2066543" cy="159105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2124"/>
                </a:solidFill>
                <a:latin typeface="Google Sans Flex"/>
              </a:rPr>
              <a:t>Evidence-gated mastery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Bayesian Knowledge Tracing. Mastery needs pKnown of at least 0.80 and two level-3 demonstrations. A bare quiz click is capped at “recognised”.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423160" y="3218688"/>
            <a:ext cx="2066543" cy="54864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100" name="Rectangle 99"/>
          <p:cNvSpPr/>
          <p:nvPr/>
        </p:nvSpPr>
        <p:spPr>
          <a:xfrm>
            <a:off x="2423160" y="3273552"/>
            <a:ext cx="2066543" cy="159105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2124"/>
                </a:solidFill>
                <a:latin typeface="Google Sans Flex"/>
              </a:rPr>
              <a:t>Textbook PDF to curriculum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Upload via Files API. Gemini extracts concepts, prerequisites, worked examples and known misconceptions. Admin library included.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81144" y="3218688"/>
            <a:ext cx="2066543" cy="54864"/>
          </a:xfrm>
          <a:prstGeom prst="rect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102" name="Rectangle 101"/>
          <p:cNvSpPr/>
          <p:nvPr/>
        </p:nvSpPr>
        <p:spPr>
          <a:xfrm>
            <a:off x="4581144" y="3273552"/>
            <a:ext cx="2066543" cy="159105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2124"/>
                </a:solidFill>
                <a:latin typeface="Google Sans Flex"/>
              </a:rPr>
              <a:t>Quality-gated content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Lints, then an independent critic model, then repair. Anything that still fails is quarantined and never shown to a child.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739128" y="3218688"/>
            <a:ext cx="2066543" cy="54864"/>
          </a:xfrm>
          <a:prstGeom prst="rect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104" name="Rectangle 103"/>
          <p:cNvSpPr/>
          <p:nvPr/>
        </p:nvSpPr>
        <p:spPr>
          <a:xfrm>
            <a:off x="6739128" y="3273552"/>
            <a:ext cx="2066543" cy="159105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202124"/>
                </a:solidFill>
                <a:latin typeface="Google Sans Flex"/>
              </a:rPr>
              <a:t>Parent view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F6368"/>
                </a:solidFill>
                <a:latin typeface="Google Sans Flex"/>
              </a:rPr>
              <a:t>Plain-language report, misconception ledger, home activity, and “See why” evidence replay. Each sentence is checked against the child's real answers.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Content is prepared once; every live answer is diagnosed and fed back.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65176" y="1444752"/>
            <a:ext cx="27432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000" b="1">
                <a:solidFill>
                  <a:srgbClr val="1A73E8"/>
                </a:solidFill>
                <a:latin typeface="Google Sans Flex"/>
              </a:rPr>
              <a:t>A. Before the lesson (once per textbook)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65176" y="1691640"/>
            <a:ext cx="1874519" cy="749808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</a:rPr>
              <a:t>Upload textbook PDF + syllabus</a:t>
            </a:r>
          </a:p>
          <a:p>
            <a:pPr algn="ctr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Admin library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2139696" y="2066543"/>
            <a:ext cx="301752" cy="0"/>
          </a:xfrm>
          <a:prstGeom prst="line">
            <a:avLst/>
          </a:prstGeom>
          <a:ln w="15875">
            <a:solidFill>
              <a:srgbClr val="1A73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2441448" y="1691640"/>
            <a:ext cx="1874519" cy="749808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</a:rPr>
              <a:t>Gemini extracts curriculum</a:t>
            </a:r>
          </a:p>
          <a:p>
            <a:pPr algn="ctr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Concepts, prerequisites, misconceptions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4315968" y="2066543"/>
            <a:ext cx="301752" cy="0"/>
          </a:xfrm>
          <a:prstGeom prst="line">
            <a:avLst/>
          </a:prstGeom>
          <a:ln w="15875">
            <a:solidFill>
              <a:srgbClr val="1A73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4617720" y="1691640"/>
            <a:ext cx="1874519" cy="749808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</a:rPr>
              <a:t>Generate lessons + visuals</a:t>
            </a:r>
          </a:p>
          <a:p>
            <a:pPr algn="ctr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Chalkboard script, diagrams, photos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6492240" y="2066543"/>
            <a:ext cx="301752" cy="0"/>
          </a:xfrm>
          <a:prstGeom prst="line">
            <a:avLst/>
          </a:prstGeom>
          <a:ln w="15875">
            <a:solidFill>
              <a:srgbClr val="1A73E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6793992" y="1691640"/>
            <a:ext cx="1874519" cy="749808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</a:rPr>
              <a:t>Critic review + lints</a:t>
            </a:r>
          </a:p>
          <a:p>
            <a:pPr algn="ctr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Fail = quarantine, never served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65176" y="2633472"/>
            <a:ext cx="36576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000" b="1">
                <a:solidFill>
                  <a:srgbClr val="1E8E3E"/>
                </a:solidFill>
                <a:latin typeface="Google Sans Flex"/>
              </a:rPr>
              <a:t>B. During the lesson (every answer)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65176" y="2880360"/>
            <a:ext cx="1554480" cy="86868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</a:rPr>
              <a:t>Compile teaching plan</a:t>
            </a:r>
          </a:p>
          <a:p>
            <a:pPr algn="ctr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Deterministic rules from the child's history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819656" y="3310128"/>
            <a:ext cx="201168" cy="0"/>
          </a:xfrm>
          <a:prstGeom prst="line">
            <a:avLst/>
          </a:prstGeom>
          <a:ln w="15875">
            <a:solidFill>
              <a:srgbClr val="1E8E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2020824" y="2880360"/>
            <a:ext cx="1554480" cy="86868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</a:rPr>
              <a:t>Tutor teaches by voice</a:t>
            </a:r>
          </a:p>
          <a:p>
            <a:pPr algn="ctr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Board fills line by line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3575304" y="3310128"/>
            <a:ext cx="201168" cy="0"/>
          </a:xfrm>
          <a:prstGeom prst="line">
            <a:avLst/>
          </a:prstGeom>
          <a:ln w="15875">
            <a:solidFill>
              <a:srgbClr val="1E8E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3776472" y="2880360"/>
            <a:ext cx="1554480" cy="86868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</a:rPr>
              <a:t>Child answers aloud</a:t>
            </a:r>
          </a:p>
          <a:p>
            <a:pPr algn="ctr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Or taps: not sure, another way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5330952" y="3310128"/>
            <a:ext cx="201168" cy="0"/>
          </a:xfrm>
          <a:prstGeom prst="line">
            <a:avLst/>
          </a:prstGeom>
          <a:ln w="15875">
            <a:solidFill>
              <a:srgbClr val="1E8E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5532120" y="2880360"/>
            <a:ext cx="1554480" cy="86868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</a:rPr>
              <a:t>Diagnose reasoning</a:t>
            </a:r>
          </a:p>
          <a:p>
            <a:pPr algn="ctr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Gemini Flash, closed catalogue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7086600" y="3310128"/>
            <a:ext cx="201168" cy="0"/>
          </a:xfrm>
          <a:prstGeom prst="line">
            <a:avLst/>
          </a:prstGeom>
          <a:ln w="15875">
            <a:solidFill>
              <a:srgbClr val="1E8E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ounded Rectangle 113"/>
          <p:cNvSpPr/>
          <p:nvPr/>
        </p:nvSpPr>
        <p:spPr>
          <a:xfrm>
            <a:off x="7287768" y="2880360"/>
            <a:ext cx="1554480" cy="868680"/>
          </a:xfrm>
          <a:prstGeom prst="roundRect">
            <a:avLst>
              <a:gd name="adj" fmla="val 12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202124"/>
                </a:solidFill>
                <a:latin typeface="Google Sans Flex"/>
              </a:rPr>
              <a:t>Update mastery + ledger</a:t>
            </a:r>
          </a:p>
          <a:p>
            <a:pPr algn="ctr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BKT, evidence event saved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65176" y="3886200"/>
            <a:ext cx="8595360" cy="411480"/>
          </a:xfrm>
          <a:prstGeom prst="rect">
            <a:avLst/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Loop: next move chosen from the evidence: probe a prerequisite, re-teach with a different representation, ask a transfer question, or advance. Then back to the plan.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65176" y="4407408"/>
            <a:ext cx="8595360" cy="502920"/>
          </a:xfrm>
          <a:prstGeom prst="rect">
            <a:avLst/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1">
                <a:solidFill>
                  <a:srgbClr val="D93025"/>
                </a:solidFill>
                <a:latin typeface="Google Sans Flex"/>
              </a:rPr>
              <a:t>C. After the session  </a:t>
            </a:r>
            <a:r>
              <a:rPr sz="950" b="0">
                <a:solidFill>
                  <a:srgbClr val="202124"/>
                </a:solidFill>
                <a:latin typeface="Google Sans Flex"/>
              </a:rPr>
              <a:t>A profiler (Gemini Flash) proposes claims about the child. Deterministic code accepts only claims backed by the child's own evidence. The Parent View shows them with a “See why” replay.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The learning screen: what the child sees while the tutor diagnoses.</a:t>
            </a:r>
          </a:p>
        </p:txBody>
      </p:sp>
      <p:pic>
        <p:nvPicPr>
          <p:cNvPr id="105" name="Picture 104" descr="observe-2-updat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" y="1463040"/>
            <a:ext cx="5394960" cy="3032738"/>
          </a:xfrm>
          <a:prstGeom prst="rect">
            <a:avLst/>
          </a:prstGeom>
        </p:spPr>
      </p:pic>
      <p:sp>
        <p:nvSpPr>
          <p:cNvPr id="106" name="Oval 105"/>
          <p:cNvSpPr/>
          <p:nvPr/>
        </p:nvSpPr>
        <p:spPr>
          <a:xfrm>
            <a:off x="5852160" y="146304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</a:rPr>
              <a:t>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99632" y="1417320"/>
            <a:ext cx="2697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36576" bIns="36576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02124"/>
                </a:solidFill>
                <a:latin typeface="Google Sans Flex"/>
              </a:rPr>
              <a:t>Chalkboard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Tutor writes while it speaks. Tabs switch representation: Real world, Shape, 3D, Chalkboard.</a:t>
            </a:r>
          </a:p>
        </p:txBody>
      </p:sp>
      <p:sp>
        <p:nvSpPr>
          <p:cNvPr id="108" name="Oval 107"/>
          <p:cNvSpPr/>
          <p:nvPr/>
        </p:nvSpPr>
        <p:spPr>
          <a:xfrm>
            <a:off x="5852160" y="214884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</a:rPr>
              <a:t>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199632" y="2103120"/>
            <a:ext cx="2697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36576" bIns="36576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02124"/>
                </a:solidFill>
                <a:latin typeface="Google Sans Flex"/>
              </a:rPr>
              <a:t>Think about this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Questions are asked on the right, answered by voice or tap.</a:t>
            </a:r>
          </a:p>
        </p:txBody>
      </p:sp>
      <p:sp>
        <p:nvSpPr>
          <p:cNvPr id="110" name="Oval 109"/>
          <p:cNvSpPr/>
          <p:nvPr/>
        </p:nvSpPr>
        <p:spPr>
          <a:xfrm>
            <a:off x="5852160" y="283464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</a:rPr>
              <a:t>3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99632" y="2788920"/>
            <a:ext cx="2697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36576" bIns="36576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02124"/>
                </a:solidFill>
                <a:latin typeface="Google Sans Flex"/>
              </a:rPr>
              <a:t>We're working on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Live misconception card: confirmed, probing or resolved.</a:t>
            </a:r>
          </a:p>
        </p:txBody>
      </p:sp>
      <p:sp>
        <p:nvSpPr>
          <p:cNvPr id="112" name="Oval 111"/>
          <p:cNvSpPr/>
          <p:nvPr/>
        </p:nvSpPr>
        <p:spPr>
          <a:xfrm>
            <a:off x="5852160" y="352044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</a:rPr>
              <a:t>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199632" y="3474720"/>
            <a:ext cx="2697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36576" bIns="36576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02124"/>
                </a:solidFill>
                <a:latin typeface="Google Sans Flex"/>
              </a:rPr>
              <a:t>Understanding meter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Mastery shown as evidence-based levels, not a score.</a:t>
            </a:r>
          </a:p>
        </p:txBody>
      </p:sp>
      <p:sp>
        <p:nvSpPr>
          <p:cNvPr id="114" name="Oval 113"/>
          <p:cNvSpPr/>
          <p:nvPr/>
        </p:nvSpPr>
        <p:spPr>
          <a:xfrm>
            <a:off x="5852160" y="4206240"/>
            <a:ext cx="274320" cy="27432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Google Sans Flex"/>
              </a:rPr>
              <a:t>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199632" y="4160520"/>
            <a:ext cx="269748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36576" bIns="36576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02124"/>
                </a:solidFill>
                <a:latin typeface="Google Sans Flex"/>
              </a:rPr>
              <a:t>Confusion buttons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I don't get it, Another way, Too fast, I guessed.</a:t>
            </a:r>
          </a:p>
        </p:txBody>
      </p:sp>
      <p:sp>
        <p:nvSpPr>
          <p:cNvPr id="116" name="Oval 115"/>
          <p:cNvSpPr/>
          <p:nvPr/>
        </p:nvSpPr>
        <p:spPr>
          <a:xfrm>
            <a:off x="2377440" y="2103120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Google Sans Flex"/>
              </a:rPr>
              <a:t>1</a:t>
            </a:r>
          </a:p>
        </p:txBody>
      </p:sp>
      <p:sp>
        <p:nvSpPr>
          <p:cNvPr id="117" name="Oval 116"/>
          <p:cNvSpPr/>
          <p:nvPr/>
        </p:nvSpPr>
        <p:spPr>
          <a:xfrm>
            <a:off x="4251960" y="1783080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Google Sans Flex"/>
              </a:rPr>
              <a:t>2</a:t>
            </a:r>
          </a:p>
        </p:txBody>
      </p:sp>
      <p:sp>
        <p:nvSpPr>
          <p:cNvPr id="118" name="Oval 117"/>
          <p:cNvSpPr/>
          <p:nvPr/>
        </p:nvSpPr>
        <p:spPr>
          <a:xfrm>
            <a:off x="4251960" y="2514600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Google Sans Flex"/>
              </a:rPr>
              <a:t>3</a:t>
            </a:r>
          </a:p>
        </p:txBody>
      </p:sp>
      <p:sp>
        <p:nvSpPr>
          <p:cNvPr id="119" name="Oval 118"/>
          <p:cNvSpPr/>
          <p:nvPr/>
        </p:nvSpPr>
        <p:spPr>
          <a:xfrm>
            <a:off x="4114800" y="1572768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Google Sans Flex"/>
              </a:rPr>
              <a:t>4</a:t>
            </a:r>
          </a:p>
        </p:txBody>
      </p:sp>
      <p:sp>
        <p:nvSpPr>
          <p:cNvPr id="120" name="Oval 119"/>
          <p:cNvSpPr/>
          <p:nvPr/>
        </p:nvSpPr>
        <p:spPr>
          <a:xfrm>
            <a:off x="2743200" y="4334256"/>
            <a:ext cx="219456" cy="219456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/>
            <a:r>
              <a:rPr sz="800" b="1">
                <a:solidFill>
                  <a:srgbClr val="FFFFFF"/>
                </a:solidFill>
                <a:latin typeface="Google Sans Flex"/>
              </a:rPr>
              <a:t>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65176" y="4572000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900" b="0">
                <a:solidFill>
                  <a:srgbClr val="5F6368"/>
                </a:solidFill>
                <a:latin typeface="Google Sans Flex"/>
              </a:rPr>
              <a:t>Parent Portal and Admin Library are separate screens reached from the start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Gemini does the language work; deterministic code makes the decisions.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65176" y="1444752"/>
            <a:ext cx="1508760" cy="3474720"/>
          </a:xfrm>
          <a:prstGeom prst="rect">
            <a:avLst/>
          </a:prstGeom>
          <a:solidFill>
            <a:srgbClr val="F1F3F4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02124"/>
                </a:solidFill>
                <a:latin typeface="Google Sans Flex"/>
              </a:rPr>
              <a:t>Browser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React + Vite app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Guided chalkboard, SVG + Three.js visuals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Mic in / audio out (PCM)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Parent View, Admin Library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057400" y="1444752"/>
            <a:ext cx="3246120" cy="2743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FFFFFF"/>
                </a:solidFill>
                <a:latin typeface="Google Sans Flex"/>
              </a:rPr>
              <a:t>Cloud Run: Node / Express (REST + /ws/live)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057400" y="1719072"/>
            <a:ext cx="3246120" cy="320040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148840" y="1801368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952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Persona composer + Teaching Plan compiler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Deterministic: no model decides what to teach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148840" y="2414016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952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r>
              <a:t>Guided session + tool dispatch</a:t>
            </a:r>
          </a:p>
          <a:p>
            <a:r>
              <a:t>Server owns the board; 8 live tools in guided chalkboard (13 in standard)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148840" y="3026664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952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Diagnosis, BKT, misconception ledger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Async; evidence events saved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148840" y="3639312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952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Profiler + claim validator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Model proposes, code verifies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148840" y="4251960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FEF7E0"/>
          </a:solidFill>
          <a:ln w="9525">
            <a:solidFill>
              <a:srgbClr val="F9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Gemini gateway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Timeouts, structured JSON, fallback cascade, logging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669280" y="1444752"/>
            <a:ext cx="3200400" cy="27432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FFFFFF"/>
                </a:solidFill>
                <a:latin typeface="Google Sans Flex"/>
              </a:rPr>
              <a:t>Google AI and Cloud services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669280" y="1764792"/>
            <a:ext cx="3200400" cy="475488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Gemini Live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Real-time voice tutoring + function calling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669280" y="2286000"/>
            <a:ext cx="3200400" cy="475488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Gemini Flash / Flash-Lite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Assessor, profiler, lesson + curriculum generation, critic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669280" y="2807208"/>
            <a:ext cx="3200400" cy="475488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Gemini Vision + image generation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Photos are reviewed before use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69280" y="3328415"/>
            <a:ext cx="3200400" cy="475488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Files API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Textbook PDF ingestion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669280" y="3849624"/>
            <a:ext cx="3200400" cy="475488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Firestore + Cloud Storage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Learners, evidence, plans, curricula, cached lessons, photos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669280" y="4370831"/>
            <a:ext cx="3200400" cy="475488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202124"/>
                </a:solidFill>
                <a:latin typeface="Google Sans Flex"/>
              </a:rPr>
              <a:t>Firebase Auth</a:t>
            </a:r>
          </a:p>
          <a:p>
            <a:pPr algn="l">
              <a:spcAft>
                <a:spcPts val="300"/>
              </a:spcAft>
            </a:pPr>
            <a:r>
              <a:rPr sz="850" b="0">
                <a:solidFill>
                  <a:srgbClr val="5F6368"/>
                </a:solidFill>
                <a:latin typeface="Google Sans Flex"/>
              </a:rPr>
              <a:t>Accounts (demo mode skips sign-in)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773936" y="2743200"/>
            <a:ext cx="283464" cy="0"/>
          </a:xfrm>
          <a:prstGeom prst="line">
            <a:avLst/>
          </a:prstGeom>
          <a:ln w="19050">
            <a:solidFill>
              <a:srgbClr val="2021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>
            <a:off x="1773936" y="2926080"/>
            <a:ext cx="283464" cy="0"/>
          </a:xfrm>
          <a:prstGeom prst="line">
            <a:avLst/>
          </a:prstGeom>
          <a:ln w="19050">
            <a:solidFill>
              <a:srgbClr val="2021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303520" y="2743200"/>
            <a:ext cx="365760" cy="0"/>
          </a:xfrm>
          <a:prstGeom prst="line">
            <a:avLst/>
          </a:prstGeom>
          <a:ln w="19050">
            <a:solidFill>
              <a:srgbClr val="2021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>
            <a:off x="5303520" y="2926080"/>
            <a:ext cx="365760" cy="0"/>
          </a:xfrm>
          <a:prstGeom prst="line">
            <a:avLst/>
          </a:prstGeom>
          <a:ln w="19050">
            <a:solidFill>
              <a:srgbClr val="2021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1737360" y="2971800"/>
            <a:ext cx="3657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700" b="0">
                <a:solidFill>
                  <a:srgbClr val="5F6368"/>
                </a:solidFill>
                <a:latin typeface="Google Sans Flex"/>
              </a:rPr>
              <a:t>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Google Cloud AI at every layer, in the roles each is best at.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65176" y="1444752"/>
            <a:ext cx="2011680" cy="329184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1A73E8"/>
                </a:solidFill>
                <a:latin typeface="Google Sans Flex"/>
              </a:rPr>
              <a:t>Gemini 3.8 Live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304288" y="1444752"/>
            <a:ext cx="6583680" cy="329184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r>
              <a:t>Real-time two-way voice, voice activity detection, 8 function-calling tools in default guided chalkboard (13 in standard)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65176" y="1810512"/>
            <a:ext cx="2011680" cy="329184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1A73E8"/>
                </a:solidFill>
                <a:latin typeface="Google Sans Flex"/>
              </a:rPr>
              <a:t>Gemini 3.8 Flash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304288" y="1810512"/>
            <a:ext cx="6583680" cy="329184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Textbook ingestion (60-page chunks via Files API), lesson generation, session profiler, parent narrative, independent critic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65176" y="2176272"/>
            <a:ext cx="2011680" cy="329184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1A73E8"/>
                </a:solidFill>
                <a:latin typeface="Google Sans Flex"/>
              </a:rPr>
              <a:t>Gemini 3.6 Flash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304288" y="2176272"/>
            <a:ext cx="6583680" cy="329184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r>
              <a:t>Per-answer reasoning diagnosis with 6.5s budget (measured p50: 3.15s, p95: 4.82s)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65176" y="2542032"/>
            <a:ext cx="2011680" cy="329184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1A73E8"/>
                </a:solidFill>
                <a:latin typeface="Google Sans Flex"/>
              </a:rPr>
              <a:t>Gemini 3.1 Flash-Lite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304288" y="2542032"/>
            <a:ext cx="6583680" cy="329184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r>
              <a:t>Fallback for diagnosis and generation (resilience)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65176" y="2907792"/>
            <a:ext cx="2011680" cy="329184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1A73E8"/>
                </a:solidFill>
                <a:latin typeface="Google Sans Flex"/>
              </a:rPr>
              <a:t>Gemini Vision / image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304288" y="2907792"/>
            <a:ext cx="6583680" cy="329184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Generates real-world photos; the critic inspects each one before it can be served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65176" y="3273552"/>
            <a:ext cx="2011680" cy="329184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1A73E8"/>
                </a:solidFill>
                <a:latin typeface="Google Sans Flex"/>
              </a:rPr>
              <a:t>Structured outputs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304288" y="3273552"/>
            <a:ext cx="6583680" cy="329184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JSON schema on every model call; invalid output is rejected or repaired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65176" y="3639312"/>
            <a:ext cx="2011680" cy="329184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1E8E3E"/>
                </a:solidFill>
                <a:latin typeface="Google Sans Flex"/>
              </a:rPr>
              <a:t>Cloud Run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304288" y="3639312"/>
            <a:ext cx="6583680" cy="329184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REST + WebSocket proxy + built app on one service; 3600 s timeout, session affinity, scale to zero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65176" y="4005072"/>
            <a:ext cx="2011680" cy="329184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1000" b="1">
                <a:solidFill>
                  <a:srgbClr val="1E8E3E"/>
                </a:solidFill>
                <a:latin typeface="Google Sans Flex"/>
              </a:rPr>
              <a:t>Firestore, Storage, Auth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304288" y="4005072"/>
            <a:ext cx="6583680" cy="329184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Learner data is server-only (security rules deny client access); photos in Cloud Storage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65176" y="4434840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l"/>
            <a:r>
              <a:rPr sz="950" b="1">
                <a:solidFill>
                  <a:srgbClr val="202124"/>
                </a:solidFill>
                <a:latin typeface="Google Sans Flex"/>
              </a:rPr>
              <a:t>Application: </a:t>
            </a:r>
            <a:r>
              <a:rPr sz="950" b="0">
                <a:solidFill>
                  <a:srgbClr val="202124"/>
                </a:solidFill>
                <a:latin typeface="Google Sans Flex"/>
              </a:rPr>
              <a:t>TypeScript, Node 22, Express, WebSocket, React, Vite, SVG and Three.js visuals, Docker.  </a:t>
            </a:r>
            <a:r>
              <a:rPr sz="950" b="0">
                <a:solidFill>
                  <a:srgbClr val="5F6368"/>
                </a:solidFill>
                <a:latin typeface="Google Sans Flex"/>
              </a:rPr>
              <a:t>Built directly on the Google Gen AI SDK; agentic by design (tool calling, shared state in Firestore, multi-model orchestration).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Cost is designed in; a measured per-student figure comes from the first billing data.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65176" y="1508760"/>
            <a:ext cx="4206240" cy="987552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Scale to zero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Cloud Run charges only while sessions run. Cold start on first request is the trade-off.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562856" y="1508760"/>
            <a:ext cx="4206240" cy="987552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Generate once, serve many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Lessons, board pictures and photos are made at upload time, cached in Firestore / Storage and reused by every child.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65176" y="2606039"/>
            <a:ext cx="4206240" cy="987552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Cheap model on the hot path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Diagnosis uses a fast Flash model; the profiler runs once per session, not per answer.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562856" y="2606039"/>
            <a:ext cx="4206240" cy="987552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Gate before spend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Failed content is quarantined, not regenerated in a live session; repeat photo requests hit the cache.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65176" y="3794760"/>
            <a:ext cx="8595360" cy="1051560"/>
          </a:xfrm>
          <a:prstGeom prst="rect">
            <a:avLst/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202124"/>
                </a:solidFill>
                <a:latin typeface="Google Sans Flex"/>
              </a:rPr>
              <a:t>What we know today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A long textbook is a paid, one-off generation job (several model calls per concept: draft, critic, repair).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Gemini free tier was used for the prototype and has rate limits.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To do: record Cloud Run + Gemini spend over a pilot and report cost per student-hour.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Real screens from the running app.</a:t>
            </a:r>
          </a:p>
        </p:txBody>
      </p:sp>
      <p:pic>
        <p:nvPicPr>
          <p:cNvPr id="137" name="Picture 136" descr="real-ladd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" y="1417320"/>
            <a:ext cx="2521281" cy="1417320"/>
          </a:xfrm>
          <a:prstGeom prst="rect">
            <a:avLst/>
          </a:prstGeom>
        </p:spPr>
      </p:pic>
      <p:sp>
        <p:nvSpPr>
          <p:cNvPr id="138" name="Rectangle 137"/>
          <p:cNvSpPr/>
          <p:nvPr/>
        </p:nvSpPr>
        <p:spPr>
          <a:xfrm>
            <a:off x="2859609" y="1417320"/>
            <a:ext cx="1611806" cy="1417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Real-world view: the child's ladder problem, with the tutor's question</a:t>
            </a:r>
          </a:p>
        </p:txBody>
      </p:sp>
      <p:pic>
        <p:nvPicPr>
          <p:cNvPr id="139" name="Picture 138" descr="chalk-don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144" y="1417320"/>
            <a:ext cx="2521281" cy="1417320"/>
          </a:xfrm>
          <a:prstGeom prst="rect">
            <a:avLst/>
          </a:prstGeom>
        </p:spPr>
      </p:pic>
      <p:sp>
        <p:nvSpPr>
          <p:cNvPr id="140" name="Rectangle 139"/>
          <p:cNvSpPr/>
          <p:nvPr/>
        </p:nvSpPr>
        <p:spPr>
          <a:xfrm>
            <a:off x="7175577" y="1417320"/>
            <a:ext cx="1611806" cy="1417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Chalkboard view: worked steps written as the tutor speaks</a:t>
            </a:r>
          </a:p>
        </p:txBody>
      </p:sp>
      <p:pic>
        <p:nvPicPr>
          <p:cNvPr id="141" name="Picture 140" descr="observe-2-update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" y="3200400"/>
            <a:ext cx="2521281" cy="1417320"/>
          </a:xfrm>
          <a:prstGeom prst="rect">
            <a:avLst/>
          </a:prstGeom>
        </p:spPr>
      </p:pic>
      <p:sp>
        <p:nvSpPr>
          <p:cNvPr id="142" name="Rectangle 141"/>
          <p:cNvSpPr/>
          <p:nvPr/>
        </p:nvSpPr>
        <p:spPr>
          <a:xfrm>
            <a:off x="2859609" y="3200400"/>
            <a:ext cx="1611806" cy="1417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Diagnosis in view: “3 + 4 = 7” flagged as adding instead of squaring</a:t>
            </a:r>
          </a:p>
        </p:txBody>
      </p:sp>
      <p:pic>
        <p:nvPicPr>
          <p:cNvPr id="143" name="Picture 142" descr="upload-flow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1144" y="3200400"/>
            <a:ext cx="3124800" cy="1417320"/>
          </a:xfrm>
          <a:prstGeom prst="rect">
            <a:avLst/>
          </a:prstGeom>
        </p:spPr>
      </p:pic>
      <p:sp>
        <p:nvSpPr>
          <p:cNvPr id="144" name="Rectangle 143"/>
          <p:cNvSpPr/>
          <p:nvPr/>
        </p:nvSpPr>
        <p:spPr>
          <a:xfrm>
            <a:off x="7779095" y="3200400"/>
            <a:ext cx="1008287" cy="1417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Admin: upload textbook PDFs, Gemini reads them into a curriculum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65176" y="4828032"/>
            <a:ext cx="859536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r>
              <a:t>Live app: https://ananta-ivczdbgbja-as.a.run.app/  ·  no sign-in: pick "Maya (Simulated)" or "Leo (Simulated)", Mathematics, Start Lesson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r>
              <a:t>Diagnosis accuracy on 45 labelled exchanges (run 2026-10-17 with gemini-3.6-flash).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65176" y="1444752"/>
            <a:ext cx="42976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000" b="1">
                <a:solidFill>
                  <a:srgbClr val="202124"/>
                </a:solidFill>
                <a:latin typeface="Google Sans Flex"/>
              </a:rPr>
              <a:t>Catches a right answer reached by a broken method (10 cases)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65176" y="1755648"/>
            <a:ext cx="146304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Answer-checking only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737360" y="1755648"/>
            <a:ext cx="2194560" cy="31089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148" name="Rectangle 147"/>
          <p:cNvSpPr/>
          <p:nvPr/>
        </p:nvSpPr>
        <p:spPr>
          <a:xfrm>
            <a:off x="3977639" y="1755648"/>
            <a:ext cx="6400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l"/>
            <a:r>
              <a:rPr sz="1000" b="1">
                <a:solidFill>
                  <a:srgbClr val="202124"/>
                </a:solidFill>
                <a:latin typeface="Google Sans Flex"/>
              </a:rPr>
              <a:t>0/10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65176" y="2139696"/>
            <a:ext cx="146304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Plain Gemini prompt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737360" y="2139696"/>
            <a:ext cx="2194560" cy="31089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1737360" y="2139696"/>
            <a:ext cx="1975104" cy="310896"/>
          </a:xfrm>
          <a:prstGeom prst="rect">
            <a:avLst/>
          </a:prstGeom>
          <a:solidFill>
            <a:srgbClr val="F9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152" name="Rectangle 151"/>
          <p:cNvSpPr/>
          <p:nvPr/>
        </p:nvSpPr>
        <p:spPr>
          <a:xfrm>
            <a:off x="3977639" y="2139696"/>
            <a:ext cx="6400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r>
              <a:t>10/10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65176" y="2523744"/>
            <a:ext cx="146304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l"/>
            <a:r>
              <a:rPr sz="950" b="0">
                <a:solidFill>
                  <a:srgbClr val="202124"/>
                </a:solidFill>
                <a:latin typeface="Google Sans Flex"/>
              </a:rPr>
              <a:t>Ananta assessor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737360" y="2523744"/>
            <a:ext cx="2194560" cy="310896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155" name="Rectangle 154"/>
          <p:cNvSpPr/>
          <p:nvPr/>
        </p:nvSpPr>
        <p:spPr>
          <a:xfrm>
            <a:off x="1737360" y="2523744"/>
            <a:ext cx="2194560" cy="31089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100" b="0">
                <a:solidFill>
                  <a:srgbClr val="202124"/>
                </a:solidFill>
                <a:latin typeface="Google Sans Flex"/>
              </a:rPr>
              <a:t/>
            </a:r>
          </a:p>
        </p:txBody>
      </p:sp>
      <p:sp>
        <p:nvSpPr>
          <p:cNvPr id="156" name="Rectangle 155"/>
          <p:cNvSpPr/>
          <p:nvPr/>
        </p:nvSpPr>
        <p:spPr>
          <a:xfrm>
            <a:off x="3977639" y="2523744"/>
            <a:ext cx="64008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r>
              <a:t>10/10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65176" y="3017520"/>
            <a:ext cx="2103120" cy="77724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r>
              <a:t>96%</a:t>
            </a:r>
          </a:p>
          <a:p>
            <a:r>
              <a:t>exact class, 43/45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459736" y="3017520"/>
            <a:ext cx="2103120" cy="77724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73E8"/>
                </a:solidFill>
                <a:latin typeface="Google Sans Flex"/>
              </a:rPr>
              <a:t>0/10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false alarms on sound reasoning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65176" y="3886200"/>
            <a:ext cx="2103120" cy="77724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73E8"/>
                </a:solidFill>
                <a:latin typeface="Google Sans Flex"/>
              </a:rPr>
              <a:t>10/10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right misconception named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459736" y="3886200"/>
            <a:ext cx="2103120" cy="77724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73E8"/>
                </a:solidFill>
                <a:latin typeface="Google Sans Flex"/>
              </a:rPr>
              <a:t>2/2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prompt-injection cases held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800600" y="1444752"/>
            <a:ext cx="4069080" cy="1417320"/>
          </a:xfrm>
          <a:prstGeom prst="rect">
            <a:avLst/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r>
              <a:t>Honest numbers</a:t>
            </a:r>
          </a:p>
          <a:p>
            <a:r>
              <a:t>Latency per diagnosis in this run: p50 3.15 s, p95 4.82 s, max 5.79 s, mean 3.32 s (n=45) — well under our 6.5s budget!</a:t>
            </a:r>
          </a:p>
          <a:p>
            <a:r>
              <a:t>Flags are 100% precise: 10 of 10 flags were right (plain prompt: 10 of 11, 91%).</a:t>
            </a:r>
          </a:p>
          <a:p>
            <a:r>
              <a:t>Adaptation proof: npm run test:adaptation (10/10 automated checks passing).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800600" y="2971800"/>
            <a:ext cx="4069080" cy="192024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r>
              <a:t>How to read this</a:t>
            </a:r>
          </a:p>
          <a:p>
            <a:r>
              <a:t>Run on gemini-3.6-flash (2026-10-17). 45 hand-written cases across 5 concepts with Wilson 95% intervals.</a:t>
            </a:r>
          </a:p>
          <a:p>
            <a:r>
              <a:t>Only 10 hidden-misconception cases: 95% CI for 10/10 is 72–100%. Tests the single-answer assessor.</a:t>
            </a:r>
          </a:p>
          <a:p>
            <a:r>
              <a:t>Also verified: app shell loads in 102 ms; learner data server-only; test suite passing for quality gates, BKT, deterministic compiler, and parent evidence replay.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265176" y="896112"/>
            <a:ext cx="85953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600" b="1">
                <a:solidFill>
                  <a:srgbClr val="202124"/>
                </a:solidFill>
                <a:latin typeface="Google Sans Flex"/>
              </a:rPr>
              <a:t>Next: prove learning gains with real children and teachers.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65176" y="1444752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100" b="1">
                <a:solidFill>
                  <a:srgbClr val="1A73E8"/>
                </a:solidFill>
                <a:latin typeface="Google Sans Flex"/>
              </a:rPr>
              <a:t>Next 3 months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65176" y="1737360"/>
            <a:ext cx="2743200" cy="315468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Pilot with a teacher and a small class; measure learning gain against a control.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Independent annotators re-label the evaluation set; grow it past 40 cases per concept.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Bring diagnosis latency down toward the 4 s target.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Spaced-review scheduling and decay of old mastery.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A73E8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Teacher view: class-level misconception heatmap.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154680" y="1444752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100" b="1">
                <a:solidFill>
                  <a:srgbClr val="1E8E3E"/>
                </a:solidFill>
                <a:latin typeface="Google Sans Flex"/>
              </a:rPr>
              <a:t>Scale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154680" y="1737360"/>
            <a:ext cx="2743200" cy="315468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Any curriculum: upload a textbook PDF and syllabus. Boards in the library: IGCSE, Cambridge, CBSE, US Common Core.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More subjects beyond Mathematics and Biology.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Preferred language captured at onboarding; broaden voice languages.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E8E3E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Supports SDG 4, quality education, by making individual explanation available outside class hours.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035040" y="1444752"/>
            <a:ext cx="28346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36576" bIns="36576"/>
          <a:lstStyle/>
          <a:p>
            <a:pPr algn="l"/>
            <a:r>
              <a:rPr sz="1100" b="1">
                <a:solidFill>
                  <a:srgbClr val="D93025"/>
                </a:solidFill>
                <a:latin typeface="Google Sans Flex"/>
              </a:rPr>
              <a:t>Limits to know about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035040" y="1737360"/>
            <a:ext cx="2834640" cy="315468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36576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Voice needs a microphone, a quiet room, and Chrome or Firefox.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Pause briefly between sentences (voice activity detection).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Gemini free tier has rate limits; if replies slow, wait a few seconds.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First load can take 10–20 s (Cloud Run cold start).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Photo generation may fall back to diagrams if image quota runs out.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D93025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Demo learners are simulated and labelled 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 sz="12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Repository:  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  <a:r>
              <a:rPr lang="en-GB" sz="1200" b="0"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5"/>
              </a:rPr>
              <a:t>https://github.com/sur2rock1/AI_Builder_cup_2026</a:t>
            </a: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 sz="12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Minutes):  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  <a:r>
              <a:rPr lang="en-GB" sz="1200" b="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[add public YouTube / Drive link]</a:t>
            </a: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 sz="12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Link:  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  <a:r>
              <a:rPr lang="en-GB" sz="1200" b="0"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6"/>
              </a:rPr>
              <a:t>https://ananta-ivczdbgbja-as.a.run.app/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265176" y="2331720"/>
            <a:ext cx="8595360" cy="18288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r>
              <a:t>For evaluators: test in under a minute</a:t>
            </a:r>
          </a:p>
          <a:p>
            <a:r>
              <a:t>1.  Open the product link. No sign-in is needed (demo mode).</a:t>
            </a:r>
          </a:p>
          <a:p>
            <a:r>
              <a:t>2.  Click "Maya (Simulated)" or "Leo (Simulated)" (Grade 4 Mathematics, Money and decimal place value). Notice Ananta opens with a place-value diagram for Maya, but with a worked example and avoids diagrams for Leo.</a:t>
            </a:r>
          </a:p>
          <a:p>
            <a:r>
              <a:t>3.  Try asking "Can you show me a picture?" or answering "10 coins" to see the diagnostic assessment and BKT update in real time.</a:t>
            </a:r>
          </a:p>
          <a:p>
            <a:r>
              <a:t>4.  Open the Parent Portal from the start page to see Ananta's plan for the next lesson and click "See Leo's answer" to inspect the child's exact words.</a:t>
            </a:r>
          </a:p>
          <a:p>
            <a:r>
              <a:t>First load may take 10–20 s. Chrome or Firefox recommended.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